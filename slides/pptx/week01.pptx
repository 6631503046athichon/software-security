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One line: "By the end of today you'll be able to look at any system and ask the right 'what could go wrong' questions — and write them down in a way engineers can act on." Set the tone: this course is hands-on; we break things in a sandbox to learn to defend them.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slide — 1 min. Tell them the lecture is ~2 h, then a 3 h lab where they threat-model a real app, play the card game, AND implement one real fix (this grew from a propose-only exercise to a build-and-prove one — see Lab 1 slide). Ask: "Who has heard the word 'threat model' before?" gauge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 ethics (legally important). Emphasize: every flag is unique to you; copying is traceable; you may be asked to explain your work live. Say plainly: "Attacking systems you don't own is a crime — everything here is in a sandbox you're authorized to attack." Have them read/sign the ethics acknowledgment this week.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model. Give one concrete example each: C — your medical records; I — your bank balance not silently changed; A — the hospital system up during an emergency. Ask the class to classify a breach you name (e.g., "ransomware encrypts files" → hits A and often C). Stress the tagline; it recurs all term. ~6 min.
Diagram: A triangle connecting three properties. Confidentiality, at the top: only the right people can read it. Integrity, at bottom left: no one can silently change it. Availability, at bottom right: it's there when you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model. Give one concrete example each: C — your medical records; I — your bank balance not silently changed; A — the hospital system up during an emergency. Ask the class to classify a breach you name (e.g., "ransomware encrypts files" → hits A and often C). Stress the tagline; it recurs all term. ~6 min.
Diagram: A triangle connecting three properties. Confidentiality, at the top: only the right people can read it. Integrity, at bottom left: no one can silently change it. Availability, at bottom right: it's there when you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in the room: put it on screen, read each scenario out loud, take a show-of-hands before revealing. Item 4 (ransomware) is the one to slow down on — most students say "Availability" instantly and miss that real ransomware usually exfiltrates first, so a breach report often has to also disclose C. That nuance is exactly why this drills the PRIMARY hit, not the only one.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asymmetry is the whole reason security is hard. Contrast a "use case" (user logs in) with an "abuse case" (attacker logs in as someone else) — say "abuse case," not "misuse case," to match the worksheet's term (Task 4: 2 personas × 2 abuse cases, graded). Exercise: pick the classroom projector login and ask "how would you abuse this?" Get 3 answers.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both precisely — these terms drive the whole DFD/STRIDE method. Walk the diagram left to right: browser | (boundary) | app | (boundary) | data. Anything crossing a boundary is where you scrutinize. Ask the class to list inputs of a login page → that's its attack surface. Same diagram the worksheet's Task 3b reuses, so pointing back at "the picture from lecture" during the lab actually works. ~6 min.
Diagram: Three trust zones — public internet, application tier, data tier — with the two boundaries a request crosses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both precisely — these terms drive the whole DFD/STRIDE method. Walk the diagram left to right: browser | (boundary) | app | (boundary) | data. Anything crossing a boundary is where you scrutinize. Ask the class to list inputs of a login page → that's its attack surface. Same diagram the worksheet's Task 3b reuses, so pointing back at "the picture from lecture" during the lab actually works. ~6 min.
Diagram: Three trust zones — public internet, application tier, data tier — with the two boundaries a request crosses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"make it concrete" moment — walk the data flow on the board. Ask: "what does the app trust here?" (it trusts the filename, unsanitized, on save). Verified live: /upload writes outside uploads/ with no auth; /files/&lt;name&gt; refuses every traversal encoding tried. Get the direction right — it's a WRITE bug, not a read bug — the rest of today's STRIDE pass depends on this. ~7 min.
Diagram: A data-flow diagram. The browser sends a file and its filename to the Flask app, crossing the boundary from the public internet into the server. Inside the server, the Flask app writes to the uploads directory using the raw, attacker-controlled filename — an unauthenticated arbitrary file write. Separately, the app reads back from uploads through the /files/name path, which is defended against path traversal.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"make it concrete" moment — walk the data flow on the board. Ask: "what does the app trust here?" (it trusts the filename, unsanitized, on save). Verified live: /upload writes outside uploads/ with no auth; /files/&lt;name&gt; refuses every traversal encoding tried. Get the direction right — it's a WRITE bug, not a read bug — the rest of today's STRIDE pass depends on this. ~7 min.
Diagram: A data-flow diagram. The browser sends a file and its filename to the Flask app, crossing the boundary from the public internet into the server. Inside the server, the Flask app writes to the uploads directory using the raw, attacker-controlled filename — an unauthenticated arbitrary file write. Separately, the app reads back from uploads through the /files/name path, which is defended against path traversal.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drive this one themselves if the room has laptops open, otherwise drive it from the front and call for filename suggestions. Make sure `../../../../etc/passwd` gets tried before moving on — watching the write side turn orange while the read side stays blocked is the moment this stops being an abstract claim. Ties directly to worksheet Task 3's Reflection Q1 (map the finding to a CWE — CWE-501, named explicitly two slides from now).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STRIDE is a checklist so you don't forget a category. Go letter by letter, 1 example each, ideally tied to /upload: T = swap a file; I = read another user's upload; D = upload a 10 GB file; E = upload a .php and execute it. Tell them: apply STRIDE to every element of the DFD. ~8 min.
Diagram: Six STRIDE categories, each mapped to the property it violates. Spoofing violates authentication. Tampering violates integrity. Repudiation violates non-repudiation. Information disclosure violates confidentiality. Denial of service violates availability. Elevation of privilege violates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Pay-off slide: the full STRIDE pass on one element. Let the class call out threats before revealing each line. Verified by running the real sample-app: the traversal bug is a WRITE primitive (Tampering), and the naive "I = read outside the folder" claim does NOT reproduce against /files/&lt;name&gt;. If asked why: for the common `../../etc/passwd`-style payload, Flask's URL router rejects any `&lt;name&gt;` segment containing `/` before the view ever runs — `safe_join` inside `send_from_directory` only gets exercised by a slash-free segment like a bare `..`, and blocks that too. Don't attribute it to safe_join alone; the router does most of the work for the payload shape students actually try. Don't let this STRIDE pass repeat that error. End with: "5-6 threats from ONE endpoint — now imagine the whole app."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while this is on screen — it's the same six findings they just watched you reveal, so this checks whether it actually landed, not whether they can read a table. The I item is the one that catches people: watch for anyone answering "I" out of habit rather than working through why the read path is the defended side here.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them to the references we'll cite weekly. OWASP = what to prevent; CWE = the precise weakness id; ATT&amp;CK = how real adversaries operate. Name CWE-501 explicitly here — the worksheet's Reflection Q1 asks them to map their /upload finding to a CWE, and this is the answer the course has already committed to (fixed 2026-07-25, after CWE-1059 turned out to be MITRE-prohibited for vulnerability mapping). They'll map every finding to a CWE/OWASP id all term.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mindset to the current policy moment (CISA, memory-safety roadmaps). Key idea: threat modeling catches design flaws *before* code exists — cheapest place to fix. This slide's own thesis is Task 8's actual grading question — make the connection explicit, don't leave it implicit. Contrast cost of fixing at design vs in production (orders of magnitude). ~4 min.
Diagram: A shift from the old model to Secure by Design. Old model: ship fast, patch later — bugs found after ship, fixed one instance at a time. Secure by Design: design out the bug class — safe by default, it's the vendor's job, designed out before code exists. Design flaws aren't coding slips, mapped to OWASP A06: Insecure Design. Driven by CISA policy and an industry push toward memory-safe languages, covered more in Week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game before the lab: it gamifies the STRIDE pass we just did. Each suit = a STRIDE category; you play a card by naming a concrete threat on the DFD. Make it competitive (leaderboard). It lowers the barrier for students who freeze on a blank page. Mention the digital deck up front so no one wastes time hunting for a printer.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Logistics — get everyone's environment working today; setup pain derails later weeks. Have TAs circulate. Tell them to fork the course repo now. This is graded only on "it runs." ~ start of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grew from a 4-step propose-only exercise into an 8-part build-and-prove lab (task numbering in the worksheet is 0-8, with a 3b for the systems-level pass) — don't teach the old 4-step version. Two things are new and graded, cite them explicitly: the systems-level pass (step 4, research-grounded — STRIDE-only modeling makes people miss system-level threats) and the implemented-and-evidenced defense (step 8 — this is where "Secure by Design" 4 slides ago stops being theory). Point them to THREAT-MODEL-TEMPLATE.md. Step 6 kicks off the term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grew from a 4-step propose-only exercise into an 8-part build-and-prove lab (task numbering in the worksheet is 0-8, with a 3b for the systems-level pass) — don't teach the old 4-step version. Two things are new and graded, cite them explicitly: the systems-level pass (step 4, research-grounded — STRIDE-only modeling makes people miss system-level threats) and the implemented-and-evidenced defense (step 8 — this is where "Secure by Design" 4 slides ago stops being theory). Point them to THREAT-MODEL-TEMPLATE.md. Step 6 kicks off the term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AI head-on, week 1. Frame it as a professional skill: future engineers use AI but must verify it. The Audit-the-AI task turns its weakness into the lesson. Be explicit about the integrity controls so expectations are set early.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3 lines. Cold-call 2 students: "give me one STRIDE threat for a login page." Confirm they can do the lab.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Cliffhanger: "Next week we automate finding these bugs — and race to triage them. Get your VM working before then." Take questions; remind about the ethics acknowledgment + Lab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ivate/tmp/claude-501/-Users-pop7-Library-CloudStorage-OneDrive-MonsterConnectCo--Ltd-Lecture-KOSEN69---software-security/e6d6556f-17de-403d-a9a0-cf2f846149b4/scratchpad/tree/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1</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Security Mindset &amp; Threat Modeling</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2139696"/>
          </a:xfrm>
          <a:prstGeom prst="roundRect">
            <a:avLst>
              <a:gd name="adj" fmla="val 34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9202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What "secure" means (CIA)</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Attacker vs. defender mindset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Trust boundaries &amp; attack surface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STRIDE + the OWASP/MITRE landscape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Secure by Design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Game: Elevation of Privilege · Lab 0 setup</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How this course works</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Every week: lecture concept → hands-on game/lab</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You'll break sandbox targets and defend your own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Per-student flags · live scoreboard · weekly "Audit the AI"</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Ethics first: attack only provided targets (see ETHICS.md)</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What does "secure" mean?</a:t>
            </a:r>
            <a:endParaRPr lang="en-US" sz="2600" dirty="0"/>
          </a:p>
        </p:txBody>
      </p:sp>
      <p:pic>
        <p:nvPicPr>
          <p:cNvPr id="5" name="Image 1" descr="A triangle connecting three properties. Confidentiality, at the top: only the right people can read it. Integrity, at bottom left: no one can silently change it. Availability, at bottom right: it's there when you need it.">    </p:cNvPr>
          <p:cNvPicPr>
            <a:picLocks noChangeAspect="1"/>
          </p:cNvPicPr>
          <p:nvPr/>
        </p:nvPicPr>
        <p:blipFill>
          <a:blip r:embed="rId2"/>
          <a:stretch>
            <a:fillRect/>
          </a:stretch>
        </p:blipFill>
        <p:spPr>
          <a:xfrm>
            <a:off x="1854926" y="1097280"/>
            <a:ext cx="5434149"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2" descr="/private/tmp/claude-501/-Users-pop7-Library-CloudStorage-OneDrive-MonsterConnectCo--Ltd-Lecture-KOSEN69---software-security/e6d6556f-17de-403d-a9a0-cf2f846149b4/scratchpad/tree/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What does "secure" mean? (cont.)</a:t>
            </a:r>
            <a:endParaRPr lang="en-US" sz="2600" dirty="0"/>
          </a:p>
        </p:txBody>
      </p:sp>
      <p:sp>
        <p:nvSpPr>
          <p:cNvPr id="5" name="Shape 2"/>
          <p:cNvSpPr/>
          <p:nvPr/>
        </p:nvSpPr>
        <p:spPr>
          <a:xfrm>
            <a:off x="457200" y="1325880"/>
            <a:ext cx="8229600" cy="822960"/>
          </a:xfrm>
          <a:prstGeom prst="roundRect">
            <a:avLst>
              <a:gd name="adj" fmla="val 8889"/>
            </a:avLst>
          </a:prstGeom>
          <a:solidFill>
            <a:srgbClr val="E8EDF3"/>
          </a:solidFill>
          <a:ln/>
        </p:spPr>
      </p:sp>
      <p:sp>
        <p:nvSpPr>
          <p:cNvPr id="6" name="Text 3"/>
          <p:cNvSpPr/>
          <p:nvPr/>
        </p:nvSpPr>
        <p:spPr>
          <a:xfrm>
            <a:off x="731520" y="132588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Security is not a feature you add — it's a property you design for.</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Classify the incident</a:t>
            </a:r>
            <a:endParaRPr lang="en-US" sz="2600" dirty="0"/>
          </a:p>
        </p:txBody>
      </p:sp>
      <p:sp>
        <p:nvSpPr>
          <p:cNvPr id="5" name="Text 2"/>
          <p:cNvSpPr/>
          <p:nvPr/>
        </p:nvSpPr>
        <p:spPr>
          <a:xfrm>
            <a:off x="548640" y="1325880"/>
            <a:ext cx="8046720" cy="109728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Six real-shaped incidents. Guess the property before the reveal — most classes call one out loud before the buttons are even clicked.</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/sim/cia-triad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Attacker vs. defender mindset</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Defenders must close every hole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Attackers need one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Think in abuse cases, not just use cases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"What can go wrong here?" at every boundary</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Trust boundaries &amp; attack surface</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Trust boundary: where data crosses between components of different privilege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 surface: every input an attacker can reach</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HTTP params, headers, cookies, file uploads, APIs, env vars, dependencies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Trust boundaries &amp; attack surface (cont.)</a:t>
            </a:r>
            <a:endParaRPr lang="en-US" sz="2600" dirty="0"/>
          </a:p>
        </p:txBody>
      </p:sp>
      <p:pic>
        <p:nvPicPr>
          <p:cNvPr id="5" name="Image 1" descr="Three trust zones — public internet, application tier, data tier — with the two boundaries a request crosses between them">    </p:cNvPr>
          <p:cNvPicPr>
            <a:picLocks noChangeAspect="1"/>
          </p:cNvPicPr>
          <p:nvPr/>
        </p:nvPicPr>
        <p:blipFill>
          <a:blip r:embed="rId2"/>
          <a:stretch>
            <a:fillRect/>
          </a:stretch>
        </p:blipFill>
        <p:spPr>
          <a:xfrm>
            <a:off x="457200" y="1097280"/>
            <a:ext cx="8229600" cy="3430714"/>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2" descr="/private/tmp/claude-501/-Users-pop7-Library-CloudStorage-OneDrive-MonsterConnectCo--Ltd-Lecture-KOSEN69---software-security/e6d6556f-17de-403d-a9a0-cf2f846149b4/scratchpad/tree/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the /upload endpoint</a:t>
            </a:r>
            <a:endParaRPr lang="en-US" sz="2600" dirty="0"/>
          </a:p>
        </p:txBody>
      </p:sp>
      <p:pic>
        <p:nvPicPr>
          <p:cNvPr id="5" name="Image 1" descr="A data-flow diagram. The browser sends a file and its filename to the Flask app, crossing the boundary from the public internet into the server. Inside the server, the Flask app writes to the uploads directory using the raw, attacker-controlled filename — an unauthenticated arbitrary file write. Separately, the app reads back from uploads through the /files/name path, which is defended against path traversal.">    </p:cNvPr>
          <p:cNvPicPr>
            <a:picLocks noChangeAspect="1"/>
          </p:cNvPicPr>
          <p:nvPr/>
        </p:nvPicPr>
        <p:blipFill>
          <a:blip r:embed="rId2"/>
          <a:stretch>
            <a:fillRect/>
          </a:stretch>
        </p:blipFill>
        <p:spPr>
          <a:xfrm>
            <a:off x="559443" y="1097280"/>
            <a:ext cx="8025114"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2" descr="/private/tmp/claude-501/-Users-pop7-Library-CloudStorage-OneDrive-MonsterConnectCo--Ltd-Lecture-KOSEN69---software-security/e6d6556f-17de-403d-a9a0-cf2f846149b4/scratchpad/tree/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the /upload endpoint (cont.)</a:t>
            </a:r>
            <a:endParaRPr lang="en-US" sz="2600" dirty="0"/>
          </a:p>
        </p:txBody>
      </p:sp>
      <p:sp>
        <p:nvSpPr>
          <p:cNvPr id="5" name="Shape 2"/>
          <p:cNvSpPr/>
          <p:nvPr/>
        </p:nvSpPr>
        <p:spPr>
          <a:xfrm>
            <a:off x="457200" y="1325880"/>
            <a:ext cx="8229600" cy="2121408"/>
          </a:xfrm>
          <a:prstGeom prst="roundRect">
            <a:avLst>
              <a:gd name="adj" fmla="val 3448"/>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9019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Crosses the Internet → app trust boundary</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Inputs: the file bytes and the filename (attacker-controlled)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../../escaped.txt as a filename → the app saves it there — arbitrary-file-write, unauthenticated, anywhere the process can reach (not "overwrite a same-name file" — write to a path you chose)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/files/&lt;name&gt; (the read path) is comparatively well-defended — the same trick doesn't work against it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Try it — same input, opposite outcomes</a:t>
            </a:r>
            <a:endParaRPr lang="en-US" sz="2600" dirty="0"/>
          </a:p>
        </p:txBody>
      </p:sp>
      <p:sp>
        <p:nvSpPr>
          <p:cNvPr id="5" name="Text 2"/>
          <p:cNvSpPr/>
          <p:nvPr/>
        </p:nvSpPr>
        <p:spPr>
          <a:xfrm>
            <a:off x="548640" y="1325880"/>
            <a:ext cx="8046720" cy="109728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Type a filename below, or pick a preset. The resolved path is computed live, not looked up.</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/sim/path-traversal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STRIDE</a:t>
            </a:r>
            <a:endParaRPr lang="en-US" sz="2600" dirty="0"/>
          </a:p>
        </p:txBody>
      </p:sp>
      <p:pic>
        <p:nvPicPr>
          <p:cNvPr id="5" name="Image 1" descr="Six STRIDE categories, each mapped to the property it violates. Spoofing violates authentication. Tampering violates integrity. Repudiation violates non-repudiation. Information disclosure violates confidentiality. Denial of service violates availability. Elevation of privilege violates authorization.">    </p:cNvPr>
          <p:cNvPicPr>
            <a:picLocks noChangeAspect="1"/>
          </p:cNvPicPr>
          <p:nvPr/>
        </p:nvPicPr>
        <p:blipFill>
          <a:blip r:embed="rId2"/>
          <a:stretch>
            <a:fillRect/>
          </a:stretch>
        </p:blipFill>
        <p:spPr>
          <a:xfrm>
            <a:off x="904997" y="1097280"/>
            <a:ext cx="7334005"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2" descr="/private/tmp/claude-501/-Users-pop7-Library-CloudStorage-OneDrive-MonsterConnectCo--Ltd-Lecture-KOSEN69---software-security/e6d6556f-17de-403d-a9a0-cf2f846149b4/scratchpad/tree/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STRIDE applied to /upload</a:t>
            </a:r>
            <a:endParaRPr lang="en-US" sz="2600" dirty="0"/>
          </a:p>
        </p:txBody>
      </p:sp>
      <p:sp>
        <p:nvSpPr>
          <p:cNvPr id="5" name="Shape 2"/>
          <p:cNvSpPr/>
          <p:nvPr/>
        </p:nvSpPr>
        <p:spPr>
          <a:xfrm>
            <a:off x="457200" y="1325880"/>
            <a:ext cx="8229600" cy="2743200"/>
          </a:xfrm>
          <a:prstGeom prst="roundRect">
            <a:avLst>
              <a:gd name="adj" fmla="val 2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52374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 — no auth: anyone can upload as "anyone"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 — ../ filename writes outside uploads/ — arbitrary-file-write, not just an overwrite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 — no logs → can't prove who uploaded the malware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 — the read path (/files/&lt;name&gt;) is comparatively well-defended (Werkzeug blocks traversal there) — this element's real risk is on the write side, not this letter</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 — no size limit → fill the disk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 — upload shell.php, then request it → code execution</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Now without the bullet list</a:t>
            </a:r>
            <a:endParaRPr lang="en-US" sz="2600" dirty="0"/>
          </a:p>
        </p:txBody>
      </p:sp>
      <p:sp>
        <p:nvSpPr>
          <p:cNvPr id="5" name="Text 2"/>
          <p:cNvSpPr/>
          <p:nvPr/>
        </p:nvSpPr>
        <p:spPr>
          <a:xfrm>
            <a:off x="548640" y="1325880"/>
            <a:ext cx="8046720" cy="8229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Same six findings, letters hidden. Guess before it reveals.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/sim/stride-drill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landscape you'll use all term</a:t>
            </a:r>
            <a:endParaRPr lang="en-US" sz="2600" dirty="0"/>
          </a:p>
        </p:txBody>
      </p:sp>
      <p:sp>
        <p:nvSpPr>
          <p:cNvPr id="5" name="Shape 2"/>
          <p:cNvSpPr/>
          <p:nvPr/>
        </p:nvSpPr>
        <p:spPr>
          <a:xfrm>
            <a:off x="457200" y="1325880"/>
            <a:ext cx="8229600" cy="1719072"/>
          </a:xfrm>
          <a:prstGeom prst="roundRect">
            <a:avLst>
              <a:gd name="adj" fmla="val 425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49961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OWASP Top 10 (2025) — most critical web risks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OWASP LLM Top 10 (2025) — AI app risks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MITRE CWE — catalogue of weaknesses (this week's finding maps to CWE-501, Trust Boundary Violation)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MITRE ATT&amp;CK — adversary tactics &amp; techniques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Secure by Design</a:t>
            </a:r>
            <a:endParaRPr lang="en-US" sz="2600" dirty="0"/>
          </a:p>
        </p:txBody>
      </p:sp>
      <p:pic>
        <p:nvPicPr>
          <p:cNvPr id="5" name="Image 1" descr="A shift from the old model to Secure by Design. Old model: ship fast, patch later — bugs found after ship, fixed one instance at a time. Secure by Design: design out the bug class — safe by default, it's the vendor's job, designed out before code exists. Design flaws aren't coding slips, mapped to OWASP A06: Insecure Design. Driven by CISA policy and an industry push toward memory-safe languages, covered more in Week 11.">    </p:cNvPr>
          <p:cNvPicPr>
            <a:picLocks noChangeAspect="1"/>
          </p:cNvPicPr>
          <p:nvPr/>
        </p:nvPicPr>
        <p:blipFill>
          <a:blip r:embed="rId2"/>
          <a:stretch>
            <a:fillRect/>
          </a:stretch>
        </p:blipFill>
        <p:spPr>
          <a:xfrm>
            <a:off x="457200" y="1097280"/>
            <a:ext cx="8229600" cy="3430714"/>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2" descr="/private/tmp/claude-501/-Users-pop7-Library-CloudStorage-OneDrive-MonsterConnectCo--Ltd-Lecture-KOSEN69---software-security/e6d6556f-17de-403d-a9a0-cf2f846149b4/scratchpad/tree/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Game — Elevation of Privilege</a:t>
            </a:r>
            <a:endParaRPr lang="en-US" sz="2600" dirty="0"/>
          </a:p>
        </p:txBody>
      </p:sp>
      <p:sp>
        <p:nvSpPr>
          <p:cNvPr id="5" name="Shape 2"/>
          <p:cNvSpPr/>
          <p:nvPr/>
        </p:nvSpPr>
        <p:spPr>
          <a:xfrm>
            <a:off x="457200" y="1325880"/>
            <a:ext cx="8229600" cy="2029968"/>
          </a:xfrm>
          <a:prstGeom prst="roundRect">
            <a:avLst>
              <a:gd name="adj" fmla="val 3604"/>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81051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Microsoft's free STRIDE card deck — github.com/adamshostack/eop</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Play cards against the sample app's data-flow diagram</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Each valid threat tied to a real element = a point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Outcome: a team-built STRIDE model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 printer? Worksheet Task 3 has a built-in digital deck — same 78 cards, one shared screen</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0 — Environment setup (once)</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32588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Docker Desktop (Win/macOS/Linux) — runs every lab target</a:t>
            </a:r>
            <a:endParaRPr lang="en-US" sz="1350" dirty="0"/>
          </a:p>
        </p:txBody>
      </p:sp>
      <p:sp>
        <p:nvSpPr>
          <p:cNvPr id="8" name="Shape 5"/>
          <p:cNvSpPr/>
          <p:nvPr/>
        </p:nvSpPr>
        <p:spPr>
          <a:xfrm>
            <a:off x="502920" y="1801368"/>
            <a:ext cx="384048" cy="384048"/>
          </a:xfrm>
          <a:prstGeom prst="ellipse">
            <a:avLst/>
          </a:prstGeom>
          <a:solidFill>
            <a:srgbClr val="E35205"/>
          </a:solidFill>
          <a:ln/>
        </p:spPr>
      </p:sp>
      <p:sp>
        <p:nvSpPr>
          <p:cNvPr id="9" name="Text 6"/>
          <p:cNvSpPr/>
          <p:nvPr/>
        </p:nvSpPr>
        <p:spPr>
          <a:xfrm>
            <a:off x="502920" y="180136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051560" y="180136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Browser + proxy: Burp Suite Community or OWASP ZAP</a:t>
            </a:r>
            <a:endParaRPr lang="en-US" sz="1350" dirty="0"/>
          </a:p>
        </p:txBody>
      </p:sp>
      <p:sp>
        <p:nvSpPr>
          <p:cNvPr id="11" name="Shape 8"/>
          <p:cNvSpPr/>
          <p:nvPr/>
        </p:nvSpPr>
        <p:spPr>
          <a:xfrm>
            <a:off x="502920" y="2276856"/>
            <a:ext cx="384048" cy="384048"/>
          </a:xfrm>
          <a:prstGeom prst="ellipse">
            <a:avLst/>
          </a:prstGeom>
          <a:solidFill>
            <a:srgbClr val="E35205"/>
          </a:solidFill>
          <a:ln/>
        </p:spPr>
      </p:sp>
      <p:sp>
        <p:nvSpPr>
          <p:cNvPr id="12" name="Text 9"/>
          <p:cNvSpPr/>
          <p:nvPr/>
        </p:nvSpPr>
        <p:spPr>
          <a:xfrm>
            <a:off x="502920" y="227685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3" name="Text 10"/>
          <p:cNvSpPr/>
          <p:nvPr/>
        </p:nvSpPr>
        <p:spPr>
          <a:xfrm>
            <a:off x="1051560" y="2276856"/>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Toolbox container (for W11 + recon): docker build -t softsec-toolbox labs/toolbox</a:t>
            </a:r>
            <a:endParaRPr lang="en-US" sz="1350" dirty="0"/>
          </a:p>
        </p:txBody>
      </p:sp>
      <p:sp>
        <p:nvSpPr>
          <p:cNvPr id="14" name="Shape 11"/>
          <p:cNvSpPr/>
          <p:nvPr/>
        </p:nvSpPr>
        <p:spPr>
          <a:xfrm>
            <a:off x="502920" y="2752344"/>
            <a:ext cx="384048" cy="384048"/>
          </a:xfrm>
          <a:prstGeom prst="ellipse">
            <a:avLst/>
          </a:prstGeom>
          <a:solidFill>
            <a:srgbClr val="E35205"/>
          </a:solidFill>
          <a:ln/>
        </p:spPr>
      </p:sp>
      <p:sp>
        <p:nvSpPr>
          <p:cNvPr id="15" name="Text 12"/>
          <p:cNvSpPr/>
          <p:nvPr/>
        </p:nvSpPr>
        <p:spPr>
          <a:xfrm>
            <a:off x="502920" y="2752344"/>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4</a:t>
            </a:r>
            <a:endParaRPr lang="en-US" sz="1500" dirty="0"/>
          </a:p>
        </p:txBody>
      </p:sp>
      <p:sp>
        <p:nvSpPr>
          <p:cNvPr id="16" name="Text 13"/>
          <p:cNvSpPr/>
          <p:nvPr/>
        </p:nvSpPr>
        <p:spPr>
          <a:xfrm>
            <a:off x="1051560" y="2752344"/>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Optional fallback: a Kali/Ubuntu VM if your host can't run Docker</a:t>
            </a:r>
            <a:endParaRPr lang="en-US" sz="1350" dirty="0"/>
          </a:p>
        </p:txBody>
      </p:sp>
      <p:sp>
        <p:nvSpPr>
          <p:cNvPr id="17" name="Shape 14"/>
          <p:cNvSpPr/>
          <p:nvPr/>
        </p:nvSpPr>
        <p:spPr>
          <a:xfrm>
            <a:off x="502920" y="3227832"/>
            <a:ext cx="384048" cy="384048"/>
          </a:xfrm>
          <a:prstGeom prst="ellipse">
            <a:avLst/>
          </a:prstGeom>
          <a:solidFill>
            <a:srgbClr val="E35205"/>
          </a:solidFill>
          <a:ln/>
        </p:spPr>
      </p:sp>
      <p:sp>
        <p:nvSpPr>
          <p:cNvPr id="18" name="Text 15"/>
          <p:cNvSpPr/>
          <p:nvPr/>
        </p:nvSpPr>
        <p:spPr>
          <a:xfrm>
            <a:off x="502920" y="3227832"/>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5</a:t>
            </a:r>
            <a:endParaRPr lang="en-US" sz="1500" dirty="0"/>
          </a:p>
        </p:txBody>
      </p:sp>
      <p:sp>
        <p:nvSpPr>
          <p:cNvPr id="19" name="Text 16"/>
          <p:cNvSpPr/>
          <p:nvPr/>
        </p:nvSpPr>
        <p:spPr>
          <a:xfrm>
            <a:off x="1051560" y="3227832"/>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Verify: docker run hello-world, git --version</a:t>
            </a:r>
            <a:endParaRPr lang="en-US" sz="1350" dirty="0"/>
          </a:p>
        </p:txBody>
      </p:sp>
      <p:sp>
        <p:nvSpPr>
          <p:cNvPr id="20" name="Text 17"/>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21"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1 — Threat-model a sample app</a:t>
            </a:r>
            <a:endParaRPr lang="en-US" sz="2600" dirty="0"/>
          </a:p>
        </p:txBody>
      </p:sp>
      <p:sp>
        <p:nvSpPr>
          <p:cNvPr id="5" name="Shape 2"/>
          <p:cNvSpPr/>
          <p:nvPr/>
        </p:nvSpPr>
        <p:spPr>
          <a:xfrm>
            <a:off x="457200" y="1325880"/>
            <a:ext cx="8229600" cy="822960"/>
          </a:xfrm>
          <a:prstGeom prst="roundRect">
            <a:avLst>
              <a:gd name="adj" fmla="val 8889"/>
            </a:avLst>
          </a:prstGeom>
          <a:solidFill>
            <a:srgbClr val="E8EDF3"/>
          </a:solidFill>
          <a:ln/>
        </p:spPr>
      </p:sp>
      <p:sp>
        <p:nvSpPr>
          <p:cNvPr id="6" name="Text 3"/>
          <p:cNvSpPr/>
          <p:nvPr/>
        </p:nvSpPr>
        <p:spPr>
          <a:xfrm>
            <a:off x="731520" y="132588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 Worksheet 1 — labs/week01-threat-modeling/worksheet.md (Part 3) · kickoff: docker compose up → http://localhost:8080</a:t>
            </a:r>
            <a:endParaRPr lang="en-US" sz="1400" dirty="0"/>
          </a:p>
        </p:txBody>
      </p:sp>
      <p:sp>
        <p:nvSpPr>
          <p:cNvPr id="7" name="Shape 4"/>
          <p:cNvSpPr/>
          <p:nvPr/>
        </p:nvSpPr>
        <p:spPr>
          <a:xfrm>
            <a:off x="502920" y="2313432"/>
            <a:ext cx="384048" cy="384048"/>
          </a:xfrm>
          <a:prstGeom prst="ellipse">
            <a:avLst/>
          </a:prstGeom>
          <a:solidFill>
            <a:srgbClr val="E35205"/>
          </a:solidFill>
          <a:ln/>
        </p:spPr>
      </p:sp>
      <p:sp>
        <p:nvSpPr>
          <p:cNvPr id="8" name="Text 5"/>
          <p:cNvSpPr/>
          <p:nvPr/>
        </p:nvSpPr>
        <p:spPr>
          <a:xfrm>
            <a:off x="502920" y="2313432"/>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9" name="Text 6"/>
          <p:cNvSpPr/>
          <p:nvPr/>
        </p:nvSpPr>
        <p:spPr>
          <a:xfrm>
            <a:off x="1051560" y="2313432"/>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Run the app; draw a DFD; apply STRIDE to each element</a:t>
            </a:r>
            <a:endParaRPr lang="en-US" sz="1350" dirty="0"/>
          </a:p>
        </p:txBody>
      </p:sp>
      <p:sp>
        <p:nvSpPr>
          <p:cNvPr id="10" name="Shape 7"/>
          <p:cNvSpPr/>
          <p:nvPr/>
        </p:nvSpPr>
        <p:spPr>
          <a:xfrm>
            <a:off x="502920" y="2788920"/>
            <a:ext cx="384048" cy="384048"/>
          </a:xfrm>
          <a:prstGeom prst="ellipse">
            <a:avLst/>
          </a:prstGeom>
          <a:solidFill>
            <a:srgbClr val="E35205"/>
          </a:solidFill>
          <a:ln/>
        </p:spPr>
      </p:sp>
      <p:sp>
        <p:nvSpPr>
          <p:cNvPr id="11" name="Text 8"/>
          <p:cNvSpPr/>
          <p:nvPr/>
        </p:nvSpPr>
        <p:spPr>
          <a:xfrm>
            <a:off x="502920" y="278892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2" name="Text 9"/>
          <p:cNvSpPr/>
          <p:nvPr/>
        </p:nvSpPr>
        <p:spPr>
          <a:xfrm>
            <a:off x="1051560" y="278892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Abuse cases: 2 personas × 2 abuse cases</a:t>
            </a:r>
            <a:endParaRPr lang="en-US" sz="1350" dirty="0"/>
          </a:p>
        </p:txBody>
      </p:sp>
      <p:sp>
        <p:nvSpPr>
          <p:cNvPr id="13" name="Shape 10"/>
          <p:cNvSpPr/>
          <p:nvPr/>
        </p:nvSpPr>
        <p:spPr>
          <a:xfrm>
            <a:off x="502920" y="3264408"/>
            <a:ext cx="384048" cy="384048"/>
          </a:xfrm>
          <a:prstGeom prst="ellipse">
            <a:avLst/>
          </a:prstGeom>
          <a:solidFill>
            <a:srgbClr val="E35205"/>
          </a:solidFill>
          <a:ln/>
        </p:spPr>
      </p:sp>
      <p:sp>
        <p:nvSpPr>
          <p:cNvPr id="14" name="Text 11"/>
          <p:cNvSpPr/>
          <p:nvPr/>
        </p:nvSpPr>
        <p:spPr>
          <a:xfrm>
            <a:off x="502920" y="326440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5" name="Text 12"/>
          <p:cNvSpPr/>
          <p:nvPr/>
        </p:nvSpPr>
        <p:spPr>
          <a:xfrm>
            <a:off x="1051560" y="326440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Deep-dive the /upload path-traversal finding</a:t>
            </a:r>
            <a:endParaRPr lang="en-US" sz="1350" dirty="0"/>
          </a:p>
        </p:txBody>
      </p:sp>
      <p:sp>
        <p:nvSpPr>
          <p:cNvPr id="16" name="Shape 13"/>
          <p:cNvSpPr/>
          <p:nvPr/>
        </p:nvSpPr>
        <p:spPr>
          <a:xfrm>
            <a:off x="502920" y="3739896"/>
            <a:ext cx="384048" cy="384048"/>
          </a:xfrm>
          <a:prstGeom prst="ellipse">
            <a:avLst/>
          </a:prstGeom>
          <a:solidFill>
            <a:srgbClr val="E35205"/>
          </a:solidFill>
          <a:ln/>
        </p:spPr>
      </p:sp>
      <p:sp>
        <p:nvSpPr>
          <p:cNvPr id="17" name="Text 14"/>
          <p:cNvSpPr/>
          <p:nvPr/>
        </p:nvSpPr>
        <p:spPr>
          <a:xfrm>
            <a:off x="502920" y="373989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051560" y="3739896"/>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Systems-level pass: assume one element is owned — what does it reach? Chain two low findings into one system-level claim</a:t>
            </a:r>
            <a:endParaRPr lang="en-US" sz="1350" dirty="0"/>
          </a:p>
        </p:txBody>
      </p:sp>
      <p:sp>
        <p:nvSpPr>
          <p:cNvPr id="19" name="Text 1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2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1 — Threat-model a sample app (cont.)</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5</a:t>
            </a:r>
            <a:endParaRPr lang="en-US" sz="1500" dirty="0"/>
          </a:p>
        </p:txBody>
      </p:sp>
      <p:sp>
        <p:nvSpPr>
          <p:cNvPr id="7" name="Text 4"/>
          <p:cNvSpPr/>
          <p:nvPr/>
        </p:nvSpPr>
        <p:spPr>
          <a:xfrm>
            <a:off x="1051560" y="132588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Turn threats into testable security requirements ("the system must … so that …")</a:t>
            </a:r>
            <a:endParaRPr lang="en-US" sz="1350" dirty="0"/>
          </a:p>
        </p:txBody>
      </p:sp>
      <p:sp>
        <p:nvSpPr>
          <p:cNvPr id="8" name="Shape 5"/>
          <p:cNvSpPr/>
          <p:nvPr/>
        </p:nvSpPr>
        <p:spPr>
          <a:xfrm>
            <a:off x="502920" y="1801368"/>
            <a:ext cx="384048" cy="384048"/>
          </a:xfrm>
          <a:prstGeom prst="ellipse">
            <a:avLst/>
          </a:prstGeom>
          <a:solidFill>
            <a:srgbClr val="E35205"/>
          </a:solidFill>
          <a:ln/>
        </p:spPr>
      </p:sp>
      <p:sp>
        <p:nvSpPr>
          <p:cNvPr id="9" name="Text 6"/>
          <p:cNvSpPr/>
          <p:nvPr/>
        </p:nvSpPr>
        <p:spPr>
          <a:xfrm>
            <a:off x="502920" y="180136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6</a:t>
            </a:r>
            <a:endParaRPr lang="en-US" sz="1500" dirty="0"/>
          </a:p>
        </p:txBody>
      </p:sp>
      <p:sp>
        <p:nvSpPr>
          <p:cNvPr id="10" name="Text 7"/>
          <p:cNvSpPr/>
          <p:nvPr/>
        </p:nvSpPr>
        <p:spPr>
          <a:xfrm>
            <a:off x="1051560" y="180136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NoteVault (term project): DFD + top-3 threats — this kicks off your project</a:t>
            </a:r>
            <a:endParaRPr lang="en-US" sz="1350" dirty="0"/>
          </a:p>
        </p:txBody>
      </p:sp>
      <p:sp>
        <p:nvSpPr>
          <p:cNvPr id="11" name="Shape 8"/>
          <p:cNvSpPr/>
          <p:nvPr/>
        </p:nvSpPr>
        <p:spPr>
          <a:xfrm>
            <a:off x="502920" y="2276856"/>
            <a:ext cx="384048" cy="384048"/>
          </a:xfrm>
          <a:prstGeom prst="ellipse">
            <a:avLst/>
          </a:prstGeom>
          <a:solidFill>
            <a:srgbClr val="E35205"/>
          </a:solidFill>
          <a:ln/>
        </p:spPr>
      </p:sp>
      <p:sp>
        <p:nvSpPr>
          <p:cNvPr id="12" name="Text 9"/>
          <p:cNvSpPr/>
          <p:nvPr/>
        </p:nvSpPr>
        <p:spPr>
          <a:xfrm>
            <a:off x="502920" y="227685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7</a:t>
            </a:r>
            <a:endParaRPr lang="en-US" sz="1500" dirty="0"/>
          </a:p>
        </p:txBody>
      </p:sp>
      <p:sp>
        <p:nvSpPr>
          <p:cNvPr id="13" name="Text 10"/>
          <p:cNvSpPr/>
          <p:nvPr/>
        </p:nvSpPr>
        <p:spPr>
          <a:xfrm>
            <a:off x="1051560" y="2276856"/>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Rank top 5 risks (likelihood × impact)</a:t>
            </a:r>
            <a:endParaRPr lang="en-US" sz="1350" dirty="0"/>
          </a:p>
        </p:txBody>
      </p:sp>
      <p:sp>
        <p:nvSpPr>
          <p:cNvPr id="14" name="Shape 11"/>
          <p:cNvSpPr/>
          <p:nvPr/>
        </p:nvSpPr>
        <p:spPr>
          <a:xfrm>
            <a:off x="502920" y="2752344"/>
            <a:ext cx="384048" cy="384048"/>
          </a:xfrm>
          <a:prstGeom prst="ellipse">
            <a:avLst/>
          </a:prstGeom>
          <a:solidFill>
            <a:srgbClr val="E35205"/>
          </a:solidFill>
          <a:ln/>
        </p:spPr>
      </p:sp>
      <p:sp>
        <p:nvSpPr>
          <p:cNvPr id="15" name="Text 12"/>
          <p:cNvSpPr/>
          <p:nvPr/>
        </p:nvSpPr>
        <p:spPr>
          <a:xfrm>
            <a:off x="502920" y="2752344"/>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8</a:t>
            </a:r>
            <a:endParaRPr lang="en-US" sz="1500" dirty="0"/>
          </a:p>
        </p:txBody>
      </p:sp>
      <p:sp>
        <p:nvSpPr>
          <p:cNvPr id="16" name="Text 13"/>
          <p:cNvSpPr/>
          <p:nvPr/>
        </p:nvSpPr>
        <p:spPr>
          <a:xfrm>
            <a:off x="1051560" y="2752344"/>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Defend: implement one real mitigation — diff, before/after evidence, and argue whether your fix closes the bug class or just this instance</a:t>
            </a:r>
            <a:endParaRPr lang="en-US" sz="1350" dirty="0"/>
          </a:p>
        </p:txBody>
      </p:sp>
      <p:sp>
        <p:nvSpPr>
          <p:cNvPr id="17" name="Text 1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1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Using AI in this course</a:t>
            </a:r>
            <a:endParaRPr lang="en-US" sz="2600" dirty="0"/>
          </a:p>
        </p:txBody>
      </p:sp>
      <p:sp>
        <p:nvSpPr>
          <p:cNvPr id="5" name="Shape 2"/>
          <p:cNvSpPr/>
          <p:nvPr/>
        </p:nvSpPr>
        <p:spPr>
          <a:xfrm>
            <a:off x="457200" y="1325880"/>
            <a:ext cx="8229600" cy="2450592"/>
          </a:xfrm>
          <a:prstGeom prst="roundRect">
            <a:avLst>
              <a:gd name="adj" fmla="val 298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23113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AI is allowed — and you must disclose how you used it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But AI hallucinates APIs/CVEs and writes insecure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You're graded on understanding, not the answer:</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random live re-demos — explain it or score zero</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your flags are unique to you — copying is traceable</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every lab has an "Audit the AI" task: find what its answer gets wrong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Use AI to learn faster — never to skip the thinking</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Key takeaways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Design for security; don't bolt it on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Attackers need one gap — model the whole surface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STRIDE + DFD = a repeatable way to find design flaws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Questions?</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Next week: Secure SDLC, tooling &amp; fuzzing</a:t>
            </a:r>
            <a:endParaRPr lang="en-US" sz="1800" dirty="0"/>
          </a:p>
        </p:txBody>
      </p:sp>
      <p:pic>
        <p:nvPicPr>
          <p:cNvPr id="4" name="Image 0" descr="/private/tmp/claude-501/-Users-pop7-Library-CloudStorage-OneDrive-MonsterConnectCo--Ltd-Lecture-KOSEN69---software-security/e6d6556f-17de-403d-a9a0-cf2f846149b4/scratchpad/tree/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1</dc:title>
  <dc:subject>PptxGenJS Presentation</dc:subject>
  <dc:creator>Nutthakorn Chalaemwongwan</dc:creator>
  <cp:lastModifiedBy>Nutthakorn Chalaemwongwan</cp:lastModifiedBy>
  <cp:revision>1</cp:revision>
  <dcterms:created xsi:type="dcterms:W3CDTF">2026-09-26T16:55:56Z</dcterms:created>
  <dcterms:modified xsi:type="dcterms:W3CDTF">2026-09-26T16:55:56Z</dcterms:modified>
</cp:coreProperties>
</file>